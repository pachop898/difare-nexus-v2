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0DE01-6A57-4587-9D8F-3874451CA93B}" v="1" dt="2026-04-17T17:38:53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Javier Avila Cifuentes" userId="11414638-5f85-4101-98c3-5b367f02a4ad" providerId="ADAL" clId="{E36567A6-FF8F-4924-9449-78DB72C7401F}"/>
    <pc:docChg chg="custSel modSld">
      <pc:chgData name="Francisco Javier Avila Cifuentes" userId="11414638-5f85-4101-98c3-5b367f02a4ad" providerId="ADAL" clId="{E36567A6-FF8F-4924-9449-78DB72C7401F}" dt="2026-04-17T18:09:17.421" v="116" actId="20577"/>
      <pc:docMkLst>
        <pc:docMk/>
      </pc:docMkLst>
      <pc:sldChg chg="modSp mod">
        <pc:chgData name="Francisco Javier Avila Cifuentes" userId="11414638-5f85-4101-98c3-5b367f02a4ad" providerId="ADAL" clId="{E36567A6-FF8F-4924-9449-78DB72C7401F}" dt="2026-04-17T18:06:53.340" v="103" actId="20577"/>
        <pc:sldMkLst>
          <pc:docMk/>
          <pc:sldMk cId="0" sldId="256"/>
        </pc:sldMkLst>
        <pc:spChg chg="mod">
          <ac:chgData name="Francisco Javier Avila Cifuentes" userId="11414638-5f85-4101-98c3-5b367f02a4ad" providerId="ADAL" clId="{E36567A6-FF8F-4924-9449-78DB72C7401F}" dt="2026-04-17T17:42:53.499" v="4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Francisco Javier Avila Cifuentes" userId="11414638-5f85-4101-98c3-5b367f02a4ad" providerId="ADAL" clId="{E36567A6-FF8F-4924-9449-78DB72C7401F}" dt="2026-04-17T18:06:53.340" v="103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Francisco Javier Avila Cifuentes" userId="11414638-5f85-4101-98c3-5b367f02a4ad" providerId="ADAL" clId="{E36567A6-FF8F-4924-9449-78DB72C7401F}" dt="2026-04-17T17:40:39.568" v="21" actId="20577"/>
        <pc:sldMkLst>
          <pc:docMk/>
          <pc:sldMk cId="0" sldId="261"/>
        </pc:sldMkLst>
        <pc:spChg chg="mod">
          <ac:chgData name="Francisco Javier Avila Cifuentes" userId="11414638-5f85-4101-98c3-5b367f02a4ad" providerId="ADAL" clId="{E36567A6-FF8F-4924-9449-78DB72C7401F}" dt="2026-04-17T17:40:39.568" v="21" actId="20577"/>
          <ac:spMkLst>
            <pc:docMk/>
            <pc:sldMk cId="0" sldId="261"/>
            <ac:spMk id="26" creationId="{00000000-0000-0000-0000-000000000000}"/>
          </ac:spMkLst>
        </pc:spChg>
        <pc:picChg chg="del">
          <ac:chgData name="Francisco Javier Avila Cifuentes" userId="11414638-5f85-4101-98c3-5b367f02a4ad" providerId="ADAL" clId="{E36567A6-FF8F-4924-9449-78DB72C7401F}" dt="2026-04-17T17:38:39.127" v="0" actId="478"/>
          <ac:picMkLst>
            <pc:docMk/>
            <pc:sldMk cId="0" sldId="261"/>
            <ac:picMk id="9" creationId="{00000000-0000-0000-0000-000000000000}"/>
          </ac:picMkLst>
        </pc:picChg>
        <pc:picChg chg="add mod">
          <ac:chgData name="Francisco Javier Avila Cifuentes" userId="11414638-5f85-4101-98c3-5b367f02a4ad" providerId="ADAL" clId="{E36567A6-FF8F-4924-9449-78DB72C7401F}" dt="2026-04-17T17:39:01.164" v="3" actId="14100"/>
          <ac:picMkLst>
            <pc:docMk/>
            <pc:sldMk cId="0" sldId="261"/>
            <ac:picMk id="31" creationId="{D5E22E50-7F38-71EB-080D-05550BC20554}"/>
          </ac:picMkLst>
        </pc:picChg>
      </pc:sldChg>
      <pc:sldChg chg="modSp mod">
        <pc:chgData name="Francisco Javier Avila Cifuentes" userId="11414638-5f85-4101-98c3-5b367f02a4ad" providerId="ADAL" clId="{E36567A6-FF8F-4924-9449-78DB72C7401F}" dt="2026-04-17T18:09:17.421" v="116" actId="20577"/>
        <pc:sldMkLst>
          <pc:docMk/>
          <pc:sldMk cId="0" sldId="265"/>
        </pc:sldMkLst>
        <pc:spChg chg="mod">
          <ac:chgData name="Francisco Javier Avila Cifuentes" userId="11414638-5f85-4101-98c3-5b367f02a4ad" providerId="ADAL" clId="{E36567A6-FF8F-4924-9449-78DB72C7401F}" dt="2026-04-17T18:05:58.090" v="46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Francisco Javier Avila Cifuentes" userId="11414638-5f85-4101-98c3-5b367f02a4ad" providerId="ADAL" clId="{E36567A6-FF8F-4924-9449-78DB72C7401F}" dt="2026-04-17T18:09:17.421" v="11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Francisco Javier Avila Cifuentes" userId="11414638-5f85-4101-98c3-5b367f02a4ad" providerId="ADAL" clId="{E36567A6-FF8F-4924-9449-78DB72C7401F}" dt="2026-04-17T18:06:10.435" v="53" actId="6549"/>
          <ac:spMkLst>
            <pc:docMk/>
            <pc:sldMk cId="0" sldId="265"/>
            <ac:spMk id="6" creationId="{00000000-0000-0000-0000-000000000000}"/>
          </ac:spMkLst>
        </pc:spChg>
        <pc:spChg chg="mod">
          <ac:chgData name="Francisco Javier Avila Cifuentes" userId="11414638-5f85-4101-98c3-5b367f02a4ad" providerId="ADAL" clId="{E36567A6-FF8F-4924-9449-78DB72C7401F}" dt="2026-04-17T18:06:22.939" v="79" actId="20577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rion_v3_vertic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822960"/>
            <a:ext cx="4114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5989320"/>
            <a:ext cx="12191695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 dirty="0" err="1">
                <a:solidFill>
                  <a:srgbClr val="7A8FBB"/>
                </a:solidFill>
                <a:latin typeface="Calibri"/>
              </a:rPr>
              <a:t>Genomma</a:t>
            </a:r>
            <a:r>
              <a:rPr sz="1100" b="0" i="1" dirty="0">
                <a:solidFill>
                  <a:srgbClr val="7A8FBB"/>
                </a:solidFill>
                <a:latin typeface="Calibri"/>
              </a:rPr>
              <a:t> Lab · Abril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63640"/>
            <a:ext cx="12191695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C9A84C"/>
                </a:solidFill>
                <a:latin typeface="Calibri"/>
              </a:rPr>
              <a:t>Francisco Ávila · </a:t>
            </a:r>
            <a:r>
              <a:rPr lang="es-MX" sz="1000" b="1" dirty="0">
                <a:solidFill>
                  <a:srgbClr val="C9A84C"/>
                </a:solidFill>
                <a:latin typeface="Calibri"/>
              </a:rPr>
              <a:t>Gerente Ventas</a:t>
            </a:r>
            <a:r>
              <a:rPr sz="1000" b="1" i="0" dirty="0">
                <a:solidFill>
                  <a:srgbClr val="C9A84C"/>
                </a:solidFill>
                <a:latin typeface="Calibri"/>
              </a:rPr>
              <a:t> Ecuador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DE PILOTO 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0" i="0">
                <a:solidFill>
                  <a:srgbClr val="7A8FBB"/>
                </a:solidFill>
                <a:latin typeface="Calibri"/>
              </a:rPr>
              <a:t>De Difare 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 i="0">
                <a:solidFill>
                  <a:srgbClr val="C9A84C"/>
                </a:solidFill>
                <a:latin typeface="Calibri"/>
              </a:rPr>
              <a:t>a ORION.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8FAFF"/>
                </a:solidFill>
                <a:latin typeface="Calibri"/>
              </a:rPr>
              <a:t>Validamos el concepto con el cliente #1.   Ahora la visión es escalar
a todos nuestros clientes estratégicos y a cada país donde opera Genomma.</a:t>
            </a:r>
          </a:p>
        </p:txBody>
      </p:sp>
      <p:pic>
        <p:nvPicPr>
          <p:cNvPr id="7" name="Picture 6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EL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8FAFF"/>
                </a:solidFill>
                <a:latin typeface="Calibri"/>
              </a:rPr>
              <a:t>El cliente #1 está en cuidados intensivos.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40380"/>
            <a:ext cx="914400" cy="2720340"/>
          </a:xfrm>
          <a:prstGeom prst="rect">
            <a:avLst/>
          </a:prstGeom>
          <a:solidFill>
            <a:srgbClr val="F0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4400" y="2540380"/>
            <a:ext cx="13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0C97A"/>
                </a:solidFill>
                <a:latin typeface="Calibri"/>
              </a:rPr>
              <a:t>$5.97M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400" y="586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alibri"/>
              </a:rPr>
              <a:t>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400" y="621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23,2%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0300" y="3500606"/>
            <a:ext cx="914400" cy="226011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00300" y="3000606"/>
            <a:ext cx="13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libri"/>
              </a:rPr>
              <a:t>$4.96M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0300" y="586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alibri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300" y="621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22,0%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3482379"/>
            <a:ext cx="914400" cy="2278341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6200" y="2982379"/>
            <a:ext cx="13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libri"/>
              </a:rPr>
              <a:t>$5.00M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200" y="586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alibri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6200" y="621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21,9%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72100" y="3682873"/>
            <a:ext cx="914400" cy="207784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2100" y="3182873"/>
            <a:ext cx="13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libri"/>
              </a:rPr>
              <a:t>$4.56M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2100" y="586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alibri"/>
              </a:rP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2100" y="621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20,6%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578069"/>
            <a:ext cx="914400" cy="2182651"/>
          </a:xfrm>
          <a:prstGeom prst="rect">
            <a:avLst/>
          </a:prstGeom>
          <a:solidFill>
            <a:srgbClr val="E5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8000" y="3078069"/>
            <a:ext cx="13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56B6B"/>
                </a:solidFill>
                <a:latin typeface="Calibri"/>
              </a:rPr>
              <a:t>$4.79M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8000" y="586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alibri"/>
              </a:rP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8000" y="6210720"/>
            <a:ext cx="13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20,2%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PARTICIPACIÓN DIFARE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01752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56B6B"/>
                </a:solidFill>
                <a:latin typeface="Calibri"/>
              </a:rPr>
              <a:t>−3,0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38912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8FAFF"/>
                </a:solidFill>
                <a:latin typeface="Calibri"/>
              </a:rPr>
              <a:t>en 4 años,
mientras el mercado Ecuador
se mantiene estable
en ~$23 M / año.</a:t>
            </a:r>
          </a:p>
        </p:txBody>
      </p:sp>
      <p:pic>
        <p:nvPicPr>
          <p:cNvPr id="28" name="Picture 27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7A8FBB"/>
                </a:solidFill>
                <a:latin typeface="Calibri"/>
              </a:rPr>
              <a:t>No es un agente.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0" b="1" i="0">
                <a:solidFill>
                  <a:srgbClr val="F8FAFF"/>
                </a:solidFill>
                <a:latin typeface="Calibri"/>
              </a:rPr>
              <a:t>Es una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0" b="1" i="0">
                <a:solidFill>
                  <a:srgbClr val="C9A84C"/>
                </a:solidFill>
                <a:latin typeface="Calibri"/>
              </a:rPr>
              <a:t>que orquesta 10.</a:t>
            </a:r>
          </a:p>
        </p:txBody>
      </p:sp>
      <p:pic>
        <p:nvPicPr>
          <p:cNvPr id="7" name="Picture 6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8FAFF"/>
                </a:solidFill>
                <a:latin typeface="Calibri"/>
              </a:rPr>
              <a:t>Los 10 agentes de ORION · cada uno mueve una palanca distinta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8640" y="207024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01  KAM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640" y="262024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Chat contextual por farmacia — en la mano del vendedor.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4099" y="192024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4099" y="207024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02  Analítico Gerencial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4099" y="262024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12 tools: DOIS, Pareto, ranking PDV, tendencia YoY.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9558" y="192024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09558" y="207024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03  Vectorización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9558" y="262024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Productos Pareto faltantes por PDV. Excel firmable.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017" y="192024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65017" y="207024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04  Inventario DOIS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5017" y="262024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Días de inventario valorizado. Alerta crítico &lt; 15.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0476" y="192024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476" y="207024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05  Distribución Numérica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476" y="262024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RUCs atendidos, nuevos vs perdidos, penetración.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8640" y="431052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06  Canales Digital / Físico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40" y="486052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Mostrador vs APP, WhatsApp, Call Center.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4099" y="416052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54099" y="431052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07  Tendencia &amp; Forecast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4099" y="486052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Evolución por marca + proyección cierre de 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9558" y="416052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09558" y="431052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08  Reporte Ejecutivo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9558" y="486052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PDF + screenshot del dashboard en un clic.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017" y="416052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65017" y="431052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09  Data Ops / ETL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5017" y="486052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Detecta Excels nuevos y regenera la base automático.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70476" y="4160520"/>
            <a:ext cx="2072579" cy="2011680"/>
          </a:xfrm>
          <a:prstGeom prst="roundRect">
            <a:avLst>
              <a:gd name="adj" fmla="val 6000"/>
            </a:avLst>
          </a:prstGeom>
          <a:solidFill>
            <a:srgbClr val="111F38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0476" y="4310520"/>
            <a:ext cx="17725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Calibri"/>
              </a:rPr>
              <a:t>10  Filtros Inteligentes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476" y="4860520"/>
            <a:ext cx="1772579" cy="116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8FAFF"/>
                </a:solidFill>
                <a:latin typeface="Calibri"/>
              </a:rPr>
              <a:t>Multi-select cascading marca → producto, grupo PDV.</a:t>
            </a:r>
          </a:p>
        </p:txBody>
      </p:sp>
      <p:pic>
        <p:nvPicPr>
          <p:cNvPr id="35" name="Picture 34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PROOF · PRUÉBALO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8FAFF"/>
                </a:solidFill>
                <a:latin typeface="Calibri"/>
              </a:rPr>
              <a:t>Esto no es PowerPoint. Está en producción.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402336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222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09160" y="1851660"/>
            <a:ext cx="2743200" cy="502920"/>
          </a:xfrm>
          <a:prstGeom prst="roundRect">
            <a:avLst>
              <a:gd name="adj" fmla="val 15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9416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1628"/>
                </a:solidFill>
                <a:latin typeface="Calibri"/>
              </a:rPr>
              <a:t>PRUÉBALO AHORA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17320" y="2460320"/>
            <a:ext cx="3217520" cy="3217520"/>
          </a:xfrm>
          <a:prstGeom prst="roundRect">
            <a:avLst>
              <a:gd name="adj" fmla="val 4000"/>
            </a:avLst>
          </a:prstGeom>
          <a:solidFill>
            <a:srgbClr val="11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7320" y="5727840"/>
            <a:ext cx="34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0C97A"/>
                </a:solidFill>
                <a:latin typeface="Calibri"/>
              </a:rPr>
              <a:t>difare-nexus.up.railway.app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51460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8FAFF"/>
                </a:solidFill>
                <a:latin typeface="Calibri"/>
              </a:rPr>
              <a:t>Escanea y explóralo mientras hablo.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803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A8FBB"/>
                </a:solidFill>
                <a:latin typeface="Calibri"/>
              </a:rPr>
              <a:t>Dos usuarios — dos experiencias distintas.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429000"/>
            <a:ext cx="5852160" cy="1097280"/>
          </a:xfrm>
          <a:prstGeom prst="roundRect">
            <a:avLst>
              <a:gd name="adj" fmla="val 8000"/>
            </a:avLst>
          </a:prstGeom>
          <a:solidFill>
            <a:srgbClr val="111F38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32080" y="35490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Vista Gerencial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2080" y="3959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Usuario: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2080" y="3959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alibri"/>
              </a:rPr>
              <a:t>Gerente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2080" y="4259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Clave: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2080" y="4259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onsolas"/>
              </a:rPr>
              <a:t>gerentes2026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2080" y="37090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F0C97A"/>
                </a:solidFill>
                <a:latin typeface="Calibri"/>
              </a:rPr>
              <a:t>Dashboard + chat con 12 tools:
DOIS, Pareto, vectorización.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4617720"/>
            <a:ext cx="5852160" cy="1097280"/>
          </a:xfrm>
          <a:prstGeom prst="roundRect">
            <a:avLst>
              <a:gd name="adj" fmla="val 8000"/>
            </a:avLst>
          </a:prstGeom>
          <a:solidFill>
            <a:srgbClr val="111F38"/>
          </a:solidFill>
          <a:ln w="19050">
            <a:solidFill>
              <a:srgbClr val="6BD4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32080" y="4737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D492"/>
                </a:solidFill>
                <a:latin typeface="Calibri"/>
              </a:rPr>
              <a:t>Vista Campo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2080" y="5147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Usuario: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2080" y="5147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alibri"/>
              </a:rPr>
              <a:t>Viernes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2080" y="5447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8FBB"/>
                </a:solidFill>
                <a:latin typeface="Calibri"/>
              </a:rPr>
              <a:t>Clave: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2080" y="5447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Consolas"/>
              </a:rPr>
              <a:t>Callejero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2080" y="4897720"/>
            <a:ext cx="2468880" cy="321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 dirty="0">
                <a:solidFill>
                  <a:srgbClr val="6BD492"/>
                </a:solidFill>
                <a:latin typeface="Calibri"/>
              </a:rPr>
              <a:t>Chat contextual </a:t>
            </a:r>
            <a:r>
              <a:rPr sz="900" b="0" i="1" dirty="0" err="1">
                <a:solidFill>
                  <a:srgbClr val="6BD492"/>
                </a:solidFill>
                <a:latin typeface="Calibri"/>
              </a:rPr>
              <a:t>por</a:t>
            </a:r>
            <a:r>
              <a:rPr sz="900" b="0" i="1" dirty="0">
                <a:solidFill>
                  <a:srgbClr val="6BD492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BD492"/>
                </a:solidFill>
                <a:latin typeface="Calibri"/>
              </a:rPr>
              <a:t>farmacia</a:t>
            </a:r>
            <a:r>
              <a:rPr sz="900" b="0" i="1" dirty="0">
                <a:solidFill>
                  <a:srgbClr val="6BD492"/>
                </a:solidFill>
                <a:latin typeface="Calibri"/>
              </a:rPr>
              <a:t>
</a:t>
            </a:r>
            <a:r>
              <a:rPr sz="900" b="0" i="1" dirty="0" err="1">
                <a:solidFill>
                  <a:srgbClr val="6BD492"/>
                </a:solidFill>
                <a:latin typeface="Calibri"/>
              </a:rPr>
              <a:t>como</a:t>
            </a:r>
            <a:r>
              <a:rPr sz="900" b="0" i="1" dirty="0">
                <a:solidFill>
                  <a:srgbClr val="6BD492"/>
                </a:solidFill>
                <a:latin typeface="Calibri"/>
              </a:rPr>
              <a:t> lo </a:t>
            </a:r>
            <a:r>
              <a:rPr sz="900" b="0" i="1" dirty="0" err="1">
                <a:solidFill>
                  <a:srgbClr val="6BD492"/>
                </a:solidFill>
                <a:latin typeface="Calibri"/>
              </a:rPr>
              <a:t>usa</a:t>
            </a:r>
            <a:r>
              <a:rPr sz="900" b="0" i="1" dirty="0">
                <a:solidFill>
                  <a:srgbClr val="6BD492"/>
                </a:solidFill>
                <a:latin typeface="Calibri"/>
              </a:rPr>
              <a:t> e</a:t>
            </a:r>
            <a:r>
              <a:rPr lang="es-MX" sz="900" b="0" i="1" dirty="0">
                <a:solidFill>
                  <a:srgbClr val="6BD492"/>
                </a:solidFill>
                <a:latin typeface="Calibri"/>
              </a:rPr>
              <a:t>quipo </a:t>
            </a:r>
            <a:r>
              <a:rPr lang="es-MX" sz="900" b="0" i="1" dirty="0" err="1">
                <a:solidFill>
                  <a:srgbClr val="6BD492"/>
                </a:solidFill>
                <a:latin typeface="Calibri"/>
              </a:rPr>
              <a:t>Genomma</a:t>
            </a:r>
            <a:r>
              <a:rPr sz="900" b="0" i="1" dirty="0">
                <a:solidFill>
                  <a:srgbClr val="6BD492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BD492"/>
                </a:solidFill>
                <a:latin typeface="Calibri"/>
              </a:rPr>
              <a:t>en</a:t>
            </a:r>
            <a:r>
              <a:rPr sz="900" b="0" i="1" dirty="0">
                <a:solidFill>
                  <a:srgbClr val="6BD492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6BD492"/>
                </a:solidFill>
                <a:latin typeface="Calibri"/>
              </a:rPr>
              <a:t>el</a:t>
            </a:r>
            <a:r>
              <a:rPr sz="900" b="0" i="1" dirty="0">
                <a:solidFill>
                  <a:srgbClr val="6BD492"/>
                </a:solidFill>
                <a:latin typeface="Calibri"/>
              </a:rPr>
              <a:t> PDV.</a:t>
            </a:r>
          </a:p>
        </p:txBody>
      </p:sp>
      <p:pic>
        <p:nvPicPr>
          <p:cNvPr id="27" name="Picture 26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06 / 10</a:t>
            </a:r>
          </a:p>
        </p:txBody>
      </p:sp>
      <p:pic>
        <p:nvPicPr>
          <p:cNvPr id="31" name="Picture 20" descr="qr_orion.png">
            <a:extLst>
              <a:ext uri="{FF2B5EF4-FFF2-40B4-BE49-F238E27FC236}">
                <a16:creationId xmlns:a16="http://schemas.microsoft.com/office/drawing/2014/main" id="{D5E22E50-7F38-71EB-080D-05550BC20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424" y="2436222"/>
            <a:ext cx="3213017" cy="3213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EL CASO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8FAFF"/>
                </a:solidFill>
                <a:latin typeface="Calibri"/>
              </a:rPr>
              <a:t>Un ROI que difícilmente encontramos otra vez.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33172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6607" y="2531720"/>
            <a:ext cx="48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0C97A"/>
                </a:solidFill>
                <a:latin typeface="Calibri"/>
              </a:rPr>
              <a:t>+12–15%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607" y="3581720"/>
            <a:ext cx="46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meta crecimiento DIFARE 2026 vs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33172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3007" y="2531720"/>
            <a:ext cx="48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6BD492"/>
                </a:solidFill>
                <a:latin typeface="Calibri"/>
              </a:rPr>
              <a:t>+$575–720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3007" y="3581720"/>
            <a:ext cx="46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ingresos incrementales anuales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607" y="425196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6607" y="4451960"/>
            <a:ext cx="48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0C97A"/>
                </a:solidFill>
                <a:latin typeface="Calibri"/>
              </a:rPr>
              <a:t>$15–30 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607" y="5501960"/>
            <a:ext cx="46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costo operativo con servidores Genomma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425196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3007" y="4451960"/>
            <a:ext cx="48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6BD492"/>
                </a:solidFill>
                <a:latin typeface="Calibri"/>
              </a:rPr>
              <a:t>~2.000×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3007" y="5501960"/>
            <a:ext cx="46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ROI de la inversión (beneficio ÷ costo)</a:t>
            </a:r>
          </a:p>
        </p:txBody>
      </p:sp>
      <p:pic>
        <p:nvPicPr>
          <p:cNvPr id="17" name="Picture 16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ESCALABILIDAD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8FAFF"/>
                </a:solidFill>
                <a:latin typeface="Calibri"/>
              </a:rPr>
              <a:t>De 1 cliente a LATAM en 4 fases.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86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1628"/>
                </a:solidFill>
                <a:latin typeface="Calibri"/>
              </a:rPr>
              <a:t>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4260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C97A"/>
                </a:solidFill>
                <a:latin typeface="Calibri"/>
              </a:rPr>
              <a:t>PoC DIFARE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82600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Plataforma en producción · 10 agentes · Excel semanal firmable.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466000"/>
            <a:ext cx="1965960" cy="548640"/>
          </a:xfrm>
          <a:prstGeom prst="roundRect">
            <a:avLst>
              <a:gd name="adj" fmla="val 18000"/>
            </a:avLst>
          </a:prstGeom>
          <a:solidFill>
            <a:srgbClr val="111F38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0" y="256600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libri"/>
              </a:rPr>
              <a:t>$5 /mes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64408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6440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4044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C97A"/>
                </a:solidFill>
                <a:latin typeface="Calibri"/>
              </a:rPr>
              <a:t>Fase 1 · Histórico DIFARE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804408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PostgreSQL · 2024-2026 completo · YoY real · snapshots automáticos.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3444408"/>
            <a:ext cx="1965960" cy="548640"/>
          </a:xfrm>
          <a:prstGeom prst="roundRect">
            <a:avLst>
              <a:gd name="adj" fmla="val 18000"/>
            </a:avLst>
          </a:prstGeom>
          <a:solidFill>
            <a:srgbClr val="111F38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0" y="354440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libri"/>
              </a:rPr>
              <a:t>$15–30 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42816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54281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Q3–Q4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38281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C97A"/>
                </a:solidFill>
                <a:latin typeface="Calibri"/>
              </a:rPr>
              <a:t>Fase 2 · Top 5 Ecuador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782816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DIFARE · FARMAENLACE · GPF · LETERAGO · FAVORITA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422816"/>
            <a:ext cx="1965960" cy="548640"/>
          </a:xfrm>
          <a:prstGeom prst="roundRect">
            <a:avLst>
              <a:gd name="adj" fmla="val 18000"/>
            </a:avLst>
          </a:prstGeom>
          <a:solidFill>
            <a:srgbClr val="111F38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452281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libri"/>
              </a:rPr>
              <a:t>$75–150 /mes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21224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2122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36122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C97A"/>
                </a:solidFill>
                <a:latin typeface="Calibri"/>
              </a:rPr>
              <a:t>Fase 3 · Multi-país LATAM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761224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8FAFF"/>
                </a:solidFill>
                <a:latin typeface="Calibri"/>
              </a:rPr>
              <a:t>Top 5 por país · MX · BR · CO · PE · AR · CL · CAM · 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5401224"/>
            <a:ext cx="1965960" cy="548640"/>
          </a:xfrm>
          <a:prstGeom prst="roundRect">
            <a:avLst>
              <a:gd name="adj" fmla="val 18000"/>
            </a:avLst>
          </a:prstGeom>
          <a:solidFill>
            <a:srgbClr val="6B1E28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5501224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libri"/>
              </a:rPr>
              <a:t>$1,2–4 K /mes</a:t>
            </a:r>
          </a:p>
        </p:txBody>
      </p:sp>
      <p:pic>
        <p:nvPicPr>
          <p:cNvPr id="29" name="Picture 28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libri"/>
              </a:rPr>
              <a:t>LA 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8FAFF"/>
                </a:solidFill>
                <a:latin typeface="Calibri"/>
              </a:rPr>
              <a:t>En 2027, ORION vive en el Top 5 de cada país
donde opera Genomma.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32407" y="283464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2407" y="29846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2407" y="3034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México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83464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2807" y="29846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2807" y="3034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Brasil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3207" y="283464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3207" y="29846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3207" y="3034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32407" y="384048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2407" y="3990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2407" y="4040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Perú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2807" y="384048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2807" y="3990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2807" y="4040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Argentina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33207" y="384048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3207" y="39904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3207" y="40404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Chile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32407" y="484632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2407" y="499632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628"/>
                </a:solidFill>
                <a:latin typeface="Calibri"/>
              </a:rPr>
              <a:t>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2407" y="5046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628"/>
                </a:solidFill>
                <a:latin typeface="Calibri"/>
              </a:rPr>
              <a:t>Ecuador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2807" y="484632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2807" y="499632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2807" y="5046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C. América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207" y="484632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3207" y="499632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libri"/>
              </a:rPr>
              <a:t>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3207" y="5046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8FAFF"/>
                </a:solidFill>
                <a:latin typeface="Calibri"/>
              </a:rPr>
              <a:t>USA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F0C97A"/>
                </a:solidFill>
                <a:latin typeface="Calibri"/>
              </a:rPr>
              <a:t>Un solo stack.  Un equipo de producto.  N geografías.</a:t>
            </a:r>
          </a:p>
        </p:txBody>
      </p:sp>
      <p:pic>
        <p:nvPicPr>
          <p:cNvPr id="33" name="Picture 32" descr="orion_icon_transparent_gold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868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9A84C"/>
                </a:solidFill>
                <a:latin typeface="Calibri"/>
              </a:rPr>
              <a:t>ORION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7A8FBB"/>
                </a:solidFill>
                <a:latin typeface="Calibri"/>
              </a:rPr>
              <a:t>· Inteligencia Comercial Genomma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FBB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rion_v3_icon_bare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82296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108960"/>
            <a:ext cx="10698480" cy="599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 dirty="0">
                <a:solidFill>
                  <a:srgbClr val="F8FAFF"/>
                </a:solidFill>
                <a:latin typeface="Calibri"/>
              </a:rPr>
              <a:t>ORION no es un </a:t>
            </a:r>
            <a:r>
              <a:rPr lang="es-MX" sz="3600" b="1" i="0" dirty="0">
                <a:solidFill>
                  <a:srgbClr val="F8FAFF"/>
                </a:solidFill>
                <a:latin typeface="Calibri"/>
              </a:rPr>
              <a:t>agente</a:t>
            </a:r>
            <a:r>
              <a:rPr sz="3600" b="1" i="0" dirty="0">
                <a:solidFill>
                  <a:srgbClr val="F8FAFF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 dirty="0">
                <a:solidFill>
                  <a:srgbClr val="F0C97A"/>
                </a:solidFill>
                <a:latin typeface="Calibri"/>
              </a:rPr>
              <a:t>Es </a:t>
            </a:r>
            <a:r>
              <a:rPr sz="3200" b="0" i="0" dirty="0" err="1">
                <a:solidFill>
                  <a:srgbClr val="F0C97A"/>
                </a:solidFill>
                <a:latin typeface="Calibri"/>
              </a:rPr>
              <a:t>el</a:t>
            </a:r>
            <a:r>
              <a:rPr sz="3200" b="0" i="0" dirty="0">
                <a:solidFill>
                  <a:srgbClr val="F0C97A"/>
                </a:solidFill>
                <a:latin typeface="Calibri"/>
              </a:rPr>
              <a:t> </a:t>
            </a:r>
            <a:r>
              <a:rPr sz="3200" b="0" i="0" dirty="0" err="1">
                <a:solidFill>
                  <a:srgbClr val="F0C97A"/>
                </a:solidFill>
                <a:latin typeface="Calibri"/>
              </a:rPr>
              <a:t>sistema</a:t>
            </a:r>
            <a:r>
              <a:rPr sz="3200" b="0" i="0" dirty="0">
                <a:solidFill>
                  <a:srgbClr val="F0C97A"/>
                </a:solidFill>
                <a:latin typeface="Calibri"/>
              </a:rPr>
              <a:t> con </a:t>
            </a:r>
            <a:r>
              <a:rPr sz="3200" b="0" i="0" dirty="0" err="1">
                <a:solidFill>
                  <a:srgbClr val="F0C97A"/>
                </a:solidFill>
                <a:latin typeface="Calibri"/>
              </a:rPr>
              <a:t>el</a:t>
            </a:r>
            <a:r>
              <a:rPr sz="3200" b="0" i="0" dirty="0">
                <a:solidFill>
                  <a:srgbClr val="F0C97A"/>
                </a:solidFill>
                <a:latin typeface="Calibri"/>
              </a:rPr>
              <a:t> </a:t>
            </a:r>
            <a:r>
              <a:rPr sz="3200" b="0" i="0" dirty="0" err="1">
                <a:solidFill>
                  <a:srgbClr val="F0C97A"/>
                </a:solidFill>
                <a:latin typeface="Calibri"/>
              </a:rPr>
              <a:t>que</a:t>
            </a:r>
            <a:r>
              <a:rPr sz="3200" b="0" i="0" dirty="0">
                <a:solidFill>
                  <a:srgbClr val="F0C97A"/>
                </a:solidFill>
                <a:latin typeface="Calibri"/>
              </a:rPr>
              <a:t> </a:t>
            </a:r>
            <a:r>
              <a:rPr sz="3200" b="0" i="0" dirty="0" err="1">
                <a:solidFill>
                  <a:srgbClr val="F0C97A"/>
                </a:solidFill>
                <a:latin typeface="Calibri"/>
              </a:rPr>
              <a:t>Genomma</a:t>
            </a:r>
            <a:r>
              <a:rPr sz="3200" b="0" i="0" dirty="0">
                <a:solidFill>
                  <a:srgbClr val="F0C97A"/>
                </a:solidFill>
                <a:latin typeface="Calibri"/>
              </a:rPr>
              <a:t> </a:t>
            </a:r>
            <a:r>
              <a:rPr lang="es-MX" sz="3200" dirty="0">
                <a:solidFill>
                  <a:srgbClr val="F0C97A"/>
                </a:solidFill>
                <a:latin typeface="Calibri"/>
              </a:rPr>
              <a:t>Andino</a:t>
            </a:r>
            <a:endParaRPr sz="3200" b="0" i="0" dirty="0">
              <a:solidFill>
                <a:srgbClr val="F0C97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666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MX" sz="4000" b="1" i="0" dirty="0">
                <a:solidFill>
                  <a:srgbClr val="C9A84C"/>
                </a:solidFill>
                <a:latin typeface="Calibri"/>
              </a:rPr>
              <a:t>podrá</a:t>
            </a:r>
            <a:r>
              <a:rPr sz="4000" b="1" i="0" dirty="0">
                <a:solidFill>
                  <a:srgbClr val="C9A84C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C9A84C"/>
                </a:solidFill>
                <a:latin typeface="Calibri"/>
              </a:rPr>
              <a:t>operar</a:t>
            </a:r>
            <a:r>
              <a:rPr sz="4000" b="1" i="0" dirty="0">
                <a:solidFill>
                  <a:srgbClr val="C9A84C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C9A84C"/>
                </a:solidFill>
                <a:latin typeface="Calibri"/>
              </a:rPr>
              <a:t>en</a:t>
            </a:r>
            <a:r>
              <a:rPr sz="4000" b="1" i="0" dirty="0">
                <a:solidFill>
                  <a:srgbClr val="C9A84C"/>
                </a:solidFill>
                <a:latin typeface="Calibri"/>
              </a:rPr>
              <a:t> 2027.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7A8FBB"/>
                </a:solidFill>
                <a:latin typeface="Calibri"/>
              </a:rPr>
              <a:t>Gracias.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91695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 dirty="0">
                <a:solidFill>
                  <a:srgbClr val="7A8FBB"/>
                </a:solidFill>
                <a:latin typeface="Calibri"/>
              </a:rPr>
              <a:t>Francisco Ávila · </a:t>
            </a:r>
            <a:r>
              <a:rPr lang="es-MX" sz="1000" i="1" dirty="0">
                <a:solidFill>
                  <a:srgbClr val="7A8FBB"/>
                </a:solidFill>
                <a:latin typeface="Calibri"/>
              </a:rPr>
              <a:t>Gerente Ventas </a:t>
            </a:r>
            <a:r>
              <a:rPr sz="1000" b="0" i="1" dirty="0">
                <a:solidFill>
                  <a:srgbClr val="7A8FBB"/>
                </a:solidFill>
                <a:latin typeface="Calibri"/>
              </a:rPr>
              <a:t>Ecuador ·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648</Words>
  <Application>Microsoft Office PowerPoint</Application>
  <PresentationFormat>Panorámica</PresentationFormat>
  <Paragraphs>148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Javier Avila Cifuentes</cp:lastModifiedBy>
  <cp:revision>1</cp:revision>
  <dcterms:created xsi:type="dcterms:W3CDTF">2013-01-27T09:14:16Z</dcterms:created>
  <dcterms:modified xsi:type="dcterms:W3CDTF">2026-04-17T18:09:20Z</dcterms:modified>
  <cp:category/>
</cp:coreProperties>
</file>